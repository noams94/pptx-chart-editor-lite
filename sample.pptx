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120.5</c:v>
                </c:pt>
                <c:pt idx="1">
                  <c:v>135.0</c:v>
                </c:pt>
                <c:pt idx="2">
                  <c:v>150.2</c:v>
                </c:pt>
                <c:pt idx="3">
                  <c:v>170.8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90.1</c:v>
                </c:pt>
                <c:pt idx="1">
                  <c:v>95.5</c:v>
                </c:pt>
                <c:pt idx="2">
                  <c:v>110.0</c:v>
                </c:pt>
                <c:pt idx="3">
                  <c:v>125.3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 Pacific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75.0</c:v>
                </c:pt>
                <c:pt idx="1">
                  <c:v>88.2</c:v>
                </c:pt>
                <c:pt idx="2">
                  <c:v>102.5</c:v>
                </c:pt>
                <c:pt idx="3">
                  <c:v>130.1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Retail</c:v>
                </c:pt>
                <c:pt idx="2">
                  <c:v>Wholesale</c:v>
                </c:pt>
                <c:pt idx="3">
                  <c:v>Partners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55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Retail</c:v>
                </c:pt>
                <c:pt idx="2">
                  <c:v>Wholesale</c:v>
                </c:pt>
                <c:pt idx="3">
                  <c:v>Partners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15</c:v>
                </c:pt>
                <c:pt idx="3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Retail</c:v>
                </c:pt>
                <c:pt idx="2">
                  <c:v>Wholesale</c:v>
                </c:pt>
                <c:pt idx="3">
                  <c:v>Partners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45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Desktop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0.045</c:v>
                </c:pt>
                <c:pt idx="1">
                  <c:v>0.052</c:v>
                </c:pt>
                <c:pt idx="2">
                  <c:v>0.061</c:v>
                </c:pt>
                <c:pt idx="3">
                  <c:v>0.058</c:v>
                </c:pt>
                <c:pt idx="4">
                  <c:v>0.067</c:v>
                </c:pt>
                <c:pt idx="5">
                  <c:v>0.072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0.032</c:v>
                </c:pt>
                <c:pt idx="1">
                  <c:v>0.038</c:v>
                </c:pt>
                <c:pt idx="2">
                  <c:v>0.041</c:v>
                </c:pt>
                <c:pt idx="3">
                  <c:v>0.047</c:v>
                </c:pt>
                <c:pt idx="4">
                  <c:v>0.051</c:v>
                </c:pt>
                <c:pt idx="5">
                  <c:v>0.059</c:v>
                </c:pt>
              </c:numCache>
            </c:numRef>
          </c:val>
          <c:smooth val="0"/>
        </c:ser>
        <c:dLbls>
          <c:numFmt formatCode="0.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%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Acme</c:v>
                </c:pt>
                <c:pt idx="1">
                  <c:v>Globex</c:v>
                </c:pt>
                <c:pt idx="2">
                  <c:v>Initech</c:v>
                </c:pt>
                <c:pt idx="3">
                  <c:v>Umbrella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0.25</c:v>
                </c:pt>
                <c:pt idx="2">
                  <c:v>0.18</c:v>
                </c:pt>
                <c:pt idx="3">
                  <c:v>0.12</c:v>
                </c:pt>
                <c:pt idx="4">
                  <c:v>0.1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FY2026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Sales</c:v>
                </c:pt>
                <c:pt idx="2">
                  <c:v>Marketing</c:v>
                </c:pt>
                <c:pt idx="3">
                  <c:v>Operations</c:v>
                </c:pt>
                <c:pt idx="4">
                  <c:v>G&amp;A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320</c:v>
                </c:pt>
                <c:pt idx="2">
                  <c:v>180</c:v>
                </c:pt>
                <c:pt idx="3">
                  <c:v>250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Tier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</c:v>
                </c:pt>
                <c:pt idx="1">
                  <c:v>1350</c:v>
                </c:pt>
                <c:pt idx="2">
                  <c:v>1500</c:v>
                </c:pt>
                <c:pt idx="3">
                  <c:v>1680</c:v>
                </c:pt>
                <c:pt idx="4">
                  <c:v>1820</c:v>
                </c:pt>
                <c:pt idx="5">
                  <c:v>2100</c:v>
                </c:pt>
                <c:pt idx="6">
                  <c:v>2350</c:v>
                </c:pt>
                <c:pt idx="7">
                  <c:v>2600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400</c:v>
                </c:pt>
                <c:pt idx="1">
                  <c:v>450</c:v>
                </c:pt>
                <c:pt idx="2">
                  <c:v>520</c:v>
                </c:pt>
                <c:pt idx="3">
                  <c:v>610</c:v>
                </c:pt>
                <c:pt idx="4">
                  <c:v>720</c:v>
                </c:pt>
                <c:pt idx="5">
                  <c:v>850</c:v>
                </c:pt>
                <c:pt idx="6">
                  <c:v>980</c:v>
                </c:pt>
                <c:pt idx="7">
                  <c:v>1120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130</c:v>
                </c:pt>
                <c:pt idx="4">
                  <c:v>155</c:v>
                </c:pt>
                <c:pt idx="5">
                  <c:v>180</c:v>
                </c:pt>
                <c:pt idx="6">
                  <c:v>210</c:v>
                </c:pt>
                <c:pt idx="7">
                  <c:v>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Sheet1!$A$2:$A$9</c:f>
              <c:numCache>
                <c:formatCode>General</c:formatCode>
                <c:ptCount val="8"/>
                <c:pt idx="0">
                  <c:v>19.99</c:v>
                </c:pt>
                <c:pt idx="1">
                  <c:v>29.99</c:v>
                </c:pt>
                <c:pt idx="2">
                  <c:v>49.99</c:v>
                </c:pt>
                <c:pt idx="3">
                  <c:v>79.99</c:v>
                </c:pt>
                <c:pt idx="4">
                  <c:v>99.99</c:v>
                </c:pt>
                <c:pt idx="5">
                  <c:v>149.99</c:v>
                </c:pt>
                <c:pt idx="6">
                  <c:v>199.99</c:v>
                </c:pt>
                <c:pt idx="7">
                  <c:v>249.99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3.5</c:v>
                </c:pt>
                <c:pt idx="1">
                  <c:v>4.1</c:v>
                </c:pt>
                <c:pt idx="2">
                  <c:v>4.3</c:v>
                </c:pt>
                <c:pt idx="3">
                  <c:v>4.6</c:v>
                </c:pt>
                <c:pt idx="4">
                  <c:v>4.2</c:v>
                </c:pt>
                <c:pt idx="5">
                  <c:v>4.8</c:v>
                </c:pt>
                <c:pt idx="6">
                  <c:v>4.7</c:v>
                </c:pt>
                <c:pt idx="7">
                  <c:v>4.9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1450</c:v>
                </c:pt>
                <c:pt idx="2">
                  <c:v>1380</c:v>
                </c:pt>
                <c:pt idx="3">
                  <c:v>1620</c:v>
                </c:pt>
                <c:pt idx="4">
                  <c:v>1890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Organic</c:v>
                </c:pt>
                <c:pt idx="1">
                  <c:v>Paid</c:v>
                </c:pt>
                <c:pt idx="2">
                  <c:v>Social</c:v>
                </c:pt>
                <c:pt idx="3">
                  <c:v>Referral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 (k)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NYC</c:v>
                </c:pt>
                <c:pt idx="1">
                  <c:v>LA</c:v>
                </c:pt>
                <c:pt idx="2">
                  <c:v>Chicago</c:v>
                </c:pt>
                <c:pt idx="3">
                  <c:v>Houston</c:v>
                </c:pt>
                <c:pt idx="4">
                  <c:v>Phoenix</c:v>
                </c:pt>
                <c:pt idx="5">
                  <c:v>Philadelphia</c:v>
                </c:pt>
                <c:pt idx="6">
                  <c:v>San Antonio</c:v>
                </c:pt>
                <c:pt idx="7">
                  <c:v>San Diego</c:v>
                </c:pt>
                <c:pt idx="8">
                  <c:v>Dallas</c:v>
                </c:pt>
                <c:pt idx="9">
                  <c:v>Austin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850</c:v>
                </c:pt>
                <c:pt idx="1">
                  <c:v>720</c:v>
                </c:pt>
                <c:pt idx="2">
                  <c:v>510</c:v>
                </c:pt>
                <c:pt idx="3">
                  <c:v>430</c:v>
                </c:pt>
                <c:pt idx="4">
                  <c:v>380</c:v>
                </c:pt>
                <c:pt idx="5">
                  <c:v>360</c:v>
                </c:pt>
                <c:pt idx="6">
                  <c:v>340</c:v>
                </c:pt>
                <c:pt idx="7">
                  <c:v>320</c:v>
                </c:pt>
                <c:pt idx="8">
                  <c:v>310</c:v>
                </c:pt>
                <c:pt idx="9">
                  <c:v>290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Promoters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0.58</c:v>
                </c:pt>
                <c:pt idx="2">
                  <c:v>0.62</c:v>
                </c:pt>
                <c:pt idx="3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Passives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</c:v>
                </c:pt>
                <c:pt idx="1">
                  <c:v>0.28</c:v>
                </c:pt>
                <c:pt idx="2">
                  <c:v>0.26</c:v>
                </c:pt>
                <c:pt idx="3">
                  <c:v>0.23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Detractors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0.14</c:v>
                </c:pt>
                <c:pt idx="2">
                  <c:v>0.12</c:v>
                </c:pt>
                <c:pt idx="3">
                  <c:v>0.1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PPTX Chart Editor — Test Deck</a:t>
            </a:r>
          </a:p>
          <a:p>
            <a:pPr>
              <a:defRPr sz="1600"/>
            </a:pPr>
            <a:r>
              <a:t>Covers bar, clustered bar, stacked, line, pie, doughnut, area, scatter, percentages, multi-chart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Quarterly Revenue by Region (Clustered Column)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Product Mix by Channel (Stacked Bar)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Conversion Rate Trend (Line, 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Market Share (Pie)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914400"/>
          <a:ext cx="73152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Budget Allocation (Doughnut)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914400"/>
          <a:ext cx="73152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Monthly Active Users (Stacked Area)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Price vs. Rating (Scatter)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Dashboard — Two Charts on One Slide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5486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914400"/>
          <a:ext cx="530352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Top 10 Cities by Users (Bar)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Text-only Slide (no charts)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has no charts.</a:t>
            </a:r>
          </a:p>
          <a:p>
            <a:pPr>
              <a:defRPr sz="1800"/>
            </a:pPr>
            <a:r>
              <a:t>Use it to verify slide filtering and navigation when a slide contains no editable charts.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Customer Satisfaction (100% Stacked, 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